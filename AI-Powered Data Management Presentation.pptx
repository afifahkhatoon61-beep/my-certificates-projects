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c53d9212-9d38-2445-cce8-4f959aa93b7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3C49"/>
                </a:solidFill>
                <a:latin typeface="+mn-lt"/>
              </a:rPr>
              <a:t>Revenue by Category (Cr)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3C4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Apparel</c:v>
                  </c:pt>
                  <c:pt idx="1">
                    <c:v>Services</c:v>
                  </c:pt>
                  <c:pt idx="2">
                    <c:v>Furniture</c:v>
                  </c:pt>
                  <c:pt idx="3">
                    <c:v>Office Supplies</c:v>
                  </c:pt>
                  <c:pt idx="4">
                    <c:v>Electronics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1.29</c:v>
                </c:pt>
                <c:pt idx="1">
                  <c:v>1.27</c:v>
                </c:pt>
                <c:pt idx="2">
                  <c:v>1.25</c:v>
                </c:pt>
                <c:pt idx="3">
                  <c:v>1.19</c:v>
                </c:pt>
                <c:pt idx="4">
                  <c:v>1.19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B3C4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3C4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B3C49"/>
                </a:solidFill>
                <a:latin typeface="+mn-lt"/>
              </a:rPr>
              <a:t>Orders by Payment Status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541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D1495B"/>
              </a:solidFill>
              <a:effectLst/>
            </c:spPr>
          </c:dPt>
          <c:dPt>
            <c:idx val="3"/>
            <c:bubble3D val="0"/>
            <c:spPr>
              <a:solidFill>
                <a:srgbClr val="6C7A89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Pending</c:v>
                </c:pt>
                <c:pt idx="1">
                  <c:v>Paid</c:v>
                </c:pt>
                <c:pt idx="2">
                  <c:v>Failed</c:v>
                </c:pt>
                <c:pt idx="3">
                  <c:v>Refunded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3167</c:v>
                </c:pt>
                <c:pt idx="1">
                  <c:v>2291</c:v>
                </c:pt>
                <c:pt idx="2">
                  <c:v>2274</c:v>
                </c:pt>
                <c:pt idx="3">
                  <c:v>2268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3C4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FE8EA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541"/>
                </a:solidFill>
              </a:rPr>
              <a:t>SELF-DIRECTED PROJECT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AI-Powered Data Management &amp; MIS Reporting System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697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8EA"/>
                </a:solidFill>
              </a:rPr>
              <a:t>10,200 raw business records cleaned, validated and reported using Excel, AI and PowerPoint.</a:t>
            </a:r>
            <a:endParaRPr lang="en-US" sz="1600" dirty="0"/>
          </a:p>
        </p:txBody>
      </p:sp>
      <p:sp>
        <p:nvSpPr>
          <p:cNvPr id="5" name="Pill MS Excel"/>
          <p:cNvSpPr/>
          <p:nvPr/>
        </p:nvSpPr>
        <p:spPr>
          <a:xfrm>
            <a:off x="548640" y="37490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6" name="PillText MS Excel"/>
          <p:cNvSpPr txBox="1"/>
          <p:nvPr/>
        </p:nvSpPr>
        <p:spPr>
          <a:xfrm>
            <a:off x="548640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MS Excel</a:t>
            </a:r>
            <a:endParaRPr lang="en-US" sz="1400" dirty="0"/>
          </a:p>
        </p:txBody>
      </p:sp>
      <p:sp>
        <p:nvSpPr>
          <p:cNvPr id="7" name="Pill AI Assistance"/>
          <p:cNvSpPr/>
          <p:nvPr/>
        </p:nvSpPr>
        <p:spPr>
          <a:xfrm>
            <a:off x="2468880" y="37490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PillText AI Assistance"/>
          <p:cNvSpPr txBox="1"/>
          <p:nvPr/>
        </p:nvSpPr>
        <p:spPr>
          <a:xfrm>
            <a:off x="2468880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Assistance</a:t>
            </a:r>
            <a:endParaRPr lang="en-US" sz="1400" dirty="0"/>
          </a:p>
        </p:txBody>
      </p:sp>
      <p:sp>
        <p:nvSpPr>
          <p:cNvPr id="9" name="Pill MS PowerPoint"/>
          <p:cNvSpPr/>
          <p:nvPr/>
        </p:nvSpPr>
        <p:spPr>
          <a:xfrm>
            <a:off x="4389120" y="37490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PillText MS PowerPoint"/>
          <p:cNvSpPr txBox="1"/>
          <p:nvPr/>
        </p:nvSpPr>
        <p:spPr>
          <a:xfrm>
            <a:off x="4389120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MS PowerPoint</a:t>
            </a:r>
            <a:endParaRPr lang="en-US" sz="1400" dirty="0"/>
          </a:p>
        </p:txBody>
      </p:sp>
      <p:sp>
        <p:nvSpPr>
          <p:cNvPr id="11" name="Note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8EA"/>
                </a:solidFill>
              </a:rPr>
              <a:t>Based on a sample business dataset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 Entry &amp; Validation Rules</a:t>
            </a:r>
            <a:endParaRPr lang="en-US" sz="3000" dirty="0"/>
          </a:p>
        </p:txBody>
      </p:sp>
      <p:sp>
        <p:nvSpPr>
          <p:cNvPr id="3" name="Stat panel"/>
          <p:cNvSpPr/>
          <p:nvPr/>
        </p:nvSpPr>
        <p:spPr>
          <a:xfrm>
            <a:off x="457200" y="118872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E8F4F5"/>
          </a:solidFill>
          <a:ln/>
        </p:spPr>
      </p:sp>
      <p:sp>
        <p:nvSpPr>
          <p:cNvPr id="4" name="Stat big"/>
          <p:cNvSpPr txBox="1"/>
          <p:nvPr/>
        </p:nvSpPr>
        <p:spPr>
          <a:xfrm>
            <a:off x="45720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</a:rPr>
              <a:t>10,200</a:t>
            </a:r>
            <a:endParaRPr lang="en-US" sz="5400" dirty="0"/>
          </a:p>
        </p:txBody>
      </p:sp>
      <p:sp>
        <p:nvSpPr>
          <p:cNvPr id="5" name="Stat label"/>
          <p:cNvSpPr txBox="1"/>
          <p:nvPr/>
        </p:nvSpPr>
        <p:spPr>
          <a:xfrm>
            <a:off x="4572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3C49"/>
                </a:solidFill>
              </a:rPr>
              <a:t>raw records prepared</a:t>
            </a:r>
            <a:endParaRPr lang="en-US" sz="1600" dirty="0"/>
          </a:p>
        </p:txBody>
      </p:sp>
      <p:sp>
        <p:nvSpPr>
          <p:cNvPr id="6" name="Stat note"/>
          <p:cNvSpPr txBox="1"/>
          <p:nvPr/>
        </p:nvSpPr>
        <p:spPr>
          <a:xfrm>
            <a:off x="685800" y="30175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3C49"/>
                </a:solidFill>
              </a:rPr>
              <a:t>10 fields per record: ID, date, customer, region, category, sales rep, units, price, revenue, payment status</a:t>
            </a:r>
            <a:endParaRPr lang="en-US" sz="1400" dirty="0"/>
          </a:p>
        </p:txBody>
      </p:sp>
      <p:sp>
        <p:nvSpPr>
          <p:cNvPr id="7" name="Num 1"/>
          <p:cNvSpPr/>
          <p:nvPr/>
        </p:nvSpPr>
        <p:spPr>
          <a:xfrm>
            <a:off x="3566160" y="12344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NumText 1"/>
          <p:cNvSpPr txBox="1"/>
          <p:nvPr/>
        </p:nvSpPr>
        <p:spPr>
          <a:xfrm>
            <a:off x="35661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Step head 1"/>
          <p:cNvSpPr txBox="1"/>
          <p:nvPr/>
        </p:nvSpPr>
        <p:spPr>
          <a:xfrm>
            <a:off x="4251960" y="11887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</a:rPr>
              <a:t>Defined field formats</a:t>
            </a:r>
            <a:endParaRPr lang="en-US" sz="1800" dirty="0"/>
          </a:p>
        </p:txBody>
      </p:sp>
      <p:sp>
        <p:nvSpPr>
          <p:cNvPr id="10" name="Step body 1"/>
          <p:cNvSpPr txBox="1"/>
          <p:nvPr/>
        </p:nvSpPr>
        <p:spPr>
          <a:xfrm>
            <a:off x="4251960" y="15544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Order ID as ORD-#####, one date format, 5 categories, 4 payment statuses.</a:t>
            </a:r>
            <a:endParaRPr lang="en-US" sz="1400" dirty="0"/>
          </a:p>
        </p:txBody>
      </p:sp>
      <p:sp>
        <p:nvSpPr>
          <p:cNvPr id="11" name="Num 2"/>
          <p:cNvSpPr/>
          <p:nvPr/>
        </p:nvSpPr>
        <p:spPr>
          <a:xfrm>
            <a:off x="3566160" y="24048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NumText 2"/>
          <p:cNvSpPr txBox="1"/>
          <p:nvPr/>
        </p:nvSpPr>
        <p:spPr>
          <a:xfrm>
            <a:off x="356616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tep head 2"/>
          <p:cNvSpPr txBox="1"/>
          <p:nvPr/>
        </p:nvSpPr>
        <p:spPr>
          <a:xfrm>
            <a:off x="4251960" y="235915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</a:rPr>
              <a:t>Set validation rules</a:t>
            </a:r>
            <a:endParaRPr lang="en-US" sz="1800" dirty="0"/>
          </a:p>
        </p:txBody>
      </p:sp>
      <p:sp>
        <p:nvSpPr>
          <p:cNvPr id="14" name="Step body 2"/>
          <p:cNvSpPr txBox="1"/>
          <p:nvPr/>
        </p:nvSpPr>
        <p:spPr>
          <a:xfrm>
            <a:off x="4251960" y="272491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Units × Unit Price must equal Total Revenue. Region and Sales Rep required. No duplicate rows.</a:t>
            </a:r>
            <a:endParaRPr lang="en-US" sz="1400" dirty="0"/>
          </a:p>
        </p:txBody>
      </p:sp>
      <p:sp>
        <p:nvSpPr>
          <p:cNvPr id="15" name="Num 3"/>
          <p:cNvSpPr/>
          <p:nvPr/>
        </p:nvSpPr>
        <p:spPr>
          <a:xfrm>
            <a:off x="3566160" y="357530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NumText 3"/>
          <p:cNvSpPr txBox="1"/>
          <p:nvPr/>
        </p:nvSpPr>
        <p:spPr>
          <a:xfrm>
            <a:off x="3566160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tep head 3"/>
          <p:cNvSpPr txBox="1"/>
          <p:nvPr/>
        </p:nvSpPr>
        <p:spPr>
          <a:xfrm>
            <a:off x="4251960" y="352958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</a:rPr>
              <a:t>Audited before cleaning</a:t>
            </a:r>
            <a:endParaRPr lang="en-US" sz="1800" dirty="0"/>
          </a:p>
        </p:txBody>
      </p:sp>
      <p:sp>
        <p:nvSpPr>
          <p:cNvPr id="18" name="Step body 3"/>
          <p:cNvSpPr txBox="1"/>
          <p:nvPr/>
        </p:nvSpPr>
        <p:spPr>
          <a:xfrm>
            <a:off x="4251960" y="3895344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Duplicates, blanks and mixed formats were counted first, then fixed.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 Quality Problems Found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097280"/>
                <a:gridCol w="2194560"/>
                <a:gridCol w="19202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 taken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Excel equivalent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Duplicate rows (raw data)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Removed, first copy kept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Remove Duplicates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Mixed date formats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</a:rPr>
                        <a:t>1,457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Converted to real dates, flagged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DATEVALUE / Text to Columns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Inconsistent text (category, status, customer)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</a:rPr>
                        <a:t>3,550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Trimmed spaces, fixed case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TRIM + PROPER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Missing Region / Sales Rep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</a:rPr>
                        <a:t>500 / 400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Marked "Unassigned"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IF + ISBLANK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Missing Price and Revenue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</a:rPr>
                        <a:t>300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Not guessed, flagged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Filter blanks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Missing Order ID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4"/>
                          </a:solidFill>
                        </a:rPr>
                        <a:t>197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Not guessed, flagged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4"/>
                          </a:solidFill>
                        </a:rPr>
                        <a:t>Filter blanks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5"/>
                    </a:solidFill>
                  </a:tcPr>
                </a:tc>
              </a:tr>
            </a:tbl>
          </a:graphicData>
        </a:graphic>
      </p:graphicFrame>
      <p:sp>
        <p:nvSpPr>
          <p:cNvPr id="4" name="Table note"/>
          <p:cNvSpPr txBox="1"/>
          <p:nvPr/>
        </p:nvSpPr>
        <p:spPr>
          <a:xfrm>
            <a:off x="45720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C7A89"/>
                </a:solidFill>
              </a:rPr>
              <a:t>Duplicates are counted in the 10,200 raw rows; other counts are on the 10,000 rows left. The 1,457 mixed-format dates are two repeated values (15-08-2025, 31-12-2025) that look like placeholders, so they were kept and flagged.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Excel Dashboard &amp; Key Results</a:t>
            </a:r>
            <a:endParaRPr lang="en-US" sz="3000" dirty="0"/>
          </a:p>
        </p:txBody>
      </p:sp>
      <p:sp>
        <p:nvSpPr>
          <p:cNvPr id="3" name="KPI card 1"/>
          <p:cNvSpPr/>
          <p:nvPr/>
        </p:nvSpPr>
        <p:spPr>
          <a:xfrm>
            <a:off x="457200" y="114300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8F4F5"/>
          </a:solidFill>
          <a:ln/>
        </p:spPr>
      </p:sp>
      <p:sp>
        <p:nvSpPr>
          <p:cNvPr id="4" name="KPI value 1"/>
          <p:cNvSpPr txBox="1"/>
          <p:nvPr/>
        </p:nvSpPr>
        <p:spPr>
          <a:xfrm>
            <a:off x="45720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6.19 Cr</a:t>
            </a:r>
            <a:endParaRPr lang="en-US" sz="3000" dirty="0"/>
          </a:p>
        </p:txBody>
      </p:sp>
      <p:sp>
        <p:nvSpPr>
          <p:cNvPr id="5" name="KPI label 1"/>
          <p:cNvSpPr txBox="1"/>
          <p:nvPr/>
        </p:nvSpPr>
        <p:spPr>
          <a:xfrm>
            <a:off x="45720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6" name="KPI card 2"/>
          <p:cNvSpPr/>
          <p:nvPr/>
        </p:nvSpPr>
        <p:spPr>
          <a:xfrm>
            <a:off x="2560320" y="114300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8F4F5"/>
          </a:solidFill>
          <a:ln/>
        </p:spPr>
      </p:sp>
      <p:sp>
        <p:nvSpPr>
          <p:cNvPr id="7" name="KPI value 2"/>
          <p:cNvSpPr txBox="1"/>
          <p:nvPr/>
        </p:nvSpPr>
        <p:spPr>
          <a:xfrm>
            <a:off x="256032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10,000</a:t>
            </a:r>
            <a:endParaRPr lang="en-US" sz="3000" dirty="0"/>
          </a:p>
        </p:txBody>
      </p:sp>
      <p:sp>
        <p:nvSpPr>
          <p:cNvPr id="8" name="KPI label 2"/>
          <p:cNvSpPr txBox="1"/>
          <p:nvPr/>
        </p:nvSpPr>
        <p:spPr>
          <a:xfrm>
            <a:off x="256032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9" name="KPI card 3"/>
          <p:cNvSpPr/>
          <p:nvPr/>
        </p:nvSpPr>
        <p:spPr>
          <a:xfrm>
            <a:off x="4663440" y="114300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8F4F5"/>
          </a:solidFill>
          <a:ln/>
        </p:spPr>
      </p:sp>
      <p:sp>
        <p:nvSpPr>
          <p:cNvPr id="10" name="KPI value 3"/>
          <p:cNvSpPr txBox="1"/>
          <p:nvPr/>
        </p:nvSpPr>
        <p:spPr>
          <a:xfrm>
            <a:off x="466344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6,384</a:t>
            </a:r>
            <a:endParaRPr lang="en-US" sz="3000" dirty="0"/>
          </a:p>
        </p:txBody>
      </p:sp>
      <p:sp>
        <p:nvSpPr>
          <p:cNvPr id="11" name="KPI label 3"/>
          <p:cNvSpPr txBox="1"/>
          <p:nvPr/>
        </p:nvSpPr>
        <p:spPr>
          <a:xfrm>
            <a:off x="46634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</a:rPr>
              <a:t>AVG ORDER VALUE</a:t>
            </a:r>
            <a:endParaRPr lang="en-US" sz="1100" dirty="0"/>
          </a:p>
        </p:txBody>
      </p:sp>
      <p:sp>
        <p:nvSpPr>
          <p:cNvPr id="12" name="KPI card 4"/>
          <p:cNvSpPr/>
          <p:nvPr/>
        </p:nvSpPr>
        <p:spPr>
          <a:xfrm>
            <a:off x="6766560" y="1143000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E8F4F5"/>
          </a:solidFill>
          <a:ln/>
        </p:spPr>
      </p:sp>
      <p:sp>
        <p:nvSpPr>
          <p:cNvPr id="13" name="KPI value 4"/>
          <p:cNvSpPr txBox="1"/>
          <p:nvPr/>
        </p:nvSpPr>
        <p:spPr>
          <a:xfrm>
            <a:off x="676656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249,320</a:t>
            </a:r>
            <a:endParaRPr lang="en-US" sz="3000" dirty="0"/>
          </a:p>
        </p:txBody>
      </p:sp>
      <p:sp>
        <p:nvSpPr>
          <p:cNvPr id="14" name="KPI label 4"/>
          <p:cNvSpPr txBox="1"/>
          <p:nvPr/>
        </p:nvSpPr>
        <p:spPr>
          <a:xfrm>
            <a:off x="676656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C49"/>
                </a:solidFill>
              </a:rPr>
              <a:t>UNITS SOLD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" y="2423160"/>
          <a:ext cx="5394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Dashboard notes"/>
          <p:cNvSpPr txBox="1"/>
          <p:nvPr/>
        </p:nvSpPr>
        <p:spPr>
          <a:xfrm>
            <a:off x="6126480" y="251460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How these were built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1B2B34"/>
                </a:solidFill>
              </a:rPr>
              <a:t>All numbers come from Excel formulas (SUMIFS, COUNTIFS) on the cleaned data.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1B2B34"/>
                </a:solidFill>
              </a:rPr>
              <a:t>Revenue and average order value use the 9,700 orders that have revenue. 300 orders have no price.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i="1" dirty="0">
                <a:solidFill>
                  <a:srgbClr val="6C7A89"/>
                </a:solidFill>
              </a:rPr>
              <a:t>1 Cr = 1 crore (10 million).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AI-Assisted Analysis</a:t>
            </a:r>
            <a:endParaRPr lang="en-US" sz="3000" dirty="0"/>
          </a:p>
        </p:txBody>
      </p:sp>
      <p:sp>
        <p:nvSpPr>
          <p:cNvPr id="3" name="Prompt card"/>
          <p:cNvSpPr/>
          <p:nvPr/>
        </p:nvSpPr>
        <p:spPr>
          <a:xfrm>
            <a:off x="457200" y="1188720"/>
            <a:ext cx="3840480" cy="3383280"/>
          </a:xfrm>
          <a:prstGeom prst="roundRect">
            <a:avLst>
              <a:gd name="adj" fmla="val 3243"/>
            </a:avLst>
          </a:prstGeom>
          <a:solidFill>
            <a:srgbClr val="0B3C49"/>
          </a:solidFill>
          <a:ln/>
        </p:spPr>
      </p:sp>
      <p:sp>
        <p:nvSpPr>
          <p:cNvPr id="4" name="Prompt label"/>
          <p:cNvSpPr txBox="1"/>
          <p:nvPr/>
        </p:nvSpPr>
        <p:spPr>
          <a:xfrm>
            <a:off x="73152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</a:rPr>
              <a:t>AI PROMPT USED</a:t>
            </a:r>
            <a:endParaRPr lang="en-US" sz="1200" dirty="0"/>
          </a:p>
        </p:txBody>
      </p:sp>
      <p:sp>
        <p:nvSpPr>
          <p:cNvPr id="5" name="Prompt text"/>
          <p:cNvSpPr txBox="1"/>
          <p:nvPr/>
        </p:nvSpPr>
        <p:spPr>
          <a:xfrm>
            <a:off x="731520" y="182880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"Analyze 10,200 raw transaction rows. Identify casing anomalies, trailing spaces and payment bottlenecks, then draft executive insights."</a:t>
            </a:r>
            <a:endParaRPr lang="en-US" sz="1600" dirty="0"/>
          </a:p>
        </p:txBody>
      </p:sp>
      <p:sp>
        <p:nvSpPr>
          <p:cNvPr id="6" name="AI dot 1"/>
          <p:cNvSpPr/>
          <p:nvPr/>
        </p:nvSpPr>
        <p:spPr>
          <a:xfrm>
            <a:off x="4572000" y="12344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AI dotText 1"/>
          <p:cNvSpPr txBox="1"/>
          <p:nvPr/>
        </p:nvSpPr>
        <p:spPr>
          <a:xfrm>
            <a:off x="45720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AI head 1"/>
          <p:cNvSpPr txBox="1"/>
          <p:nvPr/>
        </p:nvSpPr>
        <p:spPr>
          <a:xfrm>
            <a:off x="512064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Found issues</a:t>
            </a:r>
            <a:endParaRPr lang="en-US" sz="1600" dirty="0"/>
          </a:p>
        </p:txBody>
      </p:sp>
      <p:sp>
        <p:nvSpPr>
          <p:cNvPr id="9" name="AI body 1"/>
          <p:cNvSpPr txBox="1"/>
          <p:nvPr/>
        </p:nvSpPr>
        <p:spPr>
          <a:xfrm>
            <a:off x="5120640" y="14996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Casing errors, extra spaces, mixed date formats and blanks.</a:t>
            </a:r>
            <a:endParaRPr lang="en-US" sz="1400" dirty="0"/>
          </a:p>
        </p:txBody>
      </p:sp>
      <p:sp>
        <p:nvSpPr>
          <p:cNvPr id="10" name="AI dot 2"/>
          <p:cNvSpPr/>
          <p:nvPr/>
        </p:nvSpPr>
        <p:spPr>
          <a:xfrm>
            <a:off x="4572000" y="21031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AI dotText 2"/>
          <p:cNvSpPr txBox="1"/>
          <p:nvPr/>
        </p:nvSpPr>
        <p:spPr>
          <a:xfrm>
            <a:off x="457200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AI head 2"/>
          <p:cNvSpPr txBox="1"/>
          <p:nvPr/>
        </p:nvSpPr>
        <p:spPr>
          <a:xfrm>
            <a:off x="5120640" y="20574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Standardised entries</a:t>
            </a:r>
            <a:endParaRPr lang="en-US" sz="1600" dirty="0"/>
          </a:p>
        </p:txBody>
      </p:sp>
      <p:sp>
        <p:nvSpPr>
          <p:cNvPr id="13" name="AI body 2"/>
          <p:cNvSpPr txBox="1"/>
          <p:nvPr/>
        </p:nvSpPr>
        <p:spPr>
          <a:xfrm>
            <a:off x="5120640" y="23682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Mapping rules for categories, statuses and customer names.</a:t>
            </a:r>
            <a:endParaRPr lang="en-US" sz="1400" dirty="0"/>
          </a:p>
        </p:txBody>
      </p:sp>
      <p:sp>
        <p:nvSpPr>
          <p:cNvPr id="14" name="AI dot 3"/>
          <p:cNvSpPr/>
          <p:nvPr/>
        </p:nvSpPr>
        <p:spPr>
          <a:xfrm>
            <a:off x="4572000" y="29718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AI dotText 3"/>
          <p:cNvSpPr txBox="1"/>
          <p:nvPr/>
        </p:nvSpPr>
        <p:spPr>
          <a:xfrm>
            <a:off x="45720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AI head 3"/>
          <p:cNvSpPr txBox="1"/>
          <p:nvPr/>
        </p:nvSpPr>
        <p:spPr>
          <a:xfrm>
            <a:off x="5120640" y="29260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Drafted insights</a:t>
            </a:r>
            <a:endParaRPr lang="en-US" sz="1600" dirty="0"/>
          </a:p>
        </p:txBody>
      </p:sp>
      <p:sp>
        <p:nvSpPr>
          <p:cNvPr id="17" name="AI body 3"/>
          <p:cNvSpPr txBox="1"/>
          <p:nvPr/>
        </p:nvSpPr>
        <p:spPr>
          <a:xfrm>
            <a:off x="5120640" y="32369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Category, region and payment patterns for the summary.</a:t>
            </a:r>
            <a:endParaRPr lang="en-US" sz="1400" dirty="0"/>
          </a:p>
        </p:txBody>
      </p:sp>
      <p:sp>
        <p:nvSpPr>
          <p:cNvPr id="18" name="AI dot 4"/>
          <p:cNvSpPr/>
          <p:nvPr/>
        </p:nvSpPr>
        <p:spPr>
          <a:xfrm>
            <a:off x="4572000" y="384048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AI dotText 4"/>
          <p:cNvSpPr txBox="1"/>
          <p:nvPr/>
        </p:nvSpPr>
        <p:spPr>
          <a:xfrm>
            <a:off x="45720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AI head 4"/>
          <p:cNvSpPr txBox="1"/>
          <p:nvPr/>
        </p:nvSpPr>
        <p:spPr>
          <a:xfrm>
            <a:off x="5120640" y="3794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Human check</a:t>
            </a:r>
            <a:endParaRPr lang="en-US" sz="1600" dirty="0"/>
          </a:p>
        </p:txBody>
      </p:sp>
      <p:sp>
        <p:nvSpPr>
          <p:cNvPr id="21" name="AI body 4"/>
          <p:cNvSpPr txBox="1"/>
          <p:nvPr/>
        </p:nvSpPr>
        <p:spPr>
          <a:xfrm>
            <a:off x="5120640" y="41056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Every AI number was cross-checked against Excel formulas.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Key Insights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39319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Insight card 1"/>
          <p:cNvSpPr/>
          <p:nvPr/>
        </p:nvSpPr>
        <p:spPr>
          <a:xfrm>
            <a:off x="4663440" y="118872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E8F4F5"/>
          </a:solidFill>
          <a:ln/>
        </p:spPr>
      </p:sp>
      <p:sp>
        <p:nvSpPr>
          <p:cNvPr id="5" name="Insight stat 1"/>
          <p:cNvSpPr txBox="1"/>
          <p:nvPr/>
        </p:nvSpPr>
        <p:spPr>
          <a:xfrm>
            <a:off x="4754880" y="118872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22.9%</a:t>
            </a:r>
            <a:endParaRPr lang="en-US" sz="2200" dirty="0"/>
          </a:p>
        </p:txBody>
      </p:sp>
      <p:sp>
        <p:nvSpPr>
          <p:cNvPr id="6" name="Insight text 1"/>
          <p:cNvSpPr txBox="1"/>
          <p:nvPr/>
        </p:nvSpPr>
        <p:spPr>
          <a:xfrm>
            <a:off x="6126480" y="118872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</a:rPr>
              <a:t>of orders are Paid. The rest are Pending, Failed or Refunded.</a:t>
            </a:r>
            <a:endParaRPr lang="en-US" sz="1300" dirty="0"/>
          </a:p>
        </p:txBody>
      </p:sp>
      <p:sp>
        <p:nvSpPr>
          <p:cNvPr id="7" name="Insight card 2"/>
          <p:cNvSpPr/>
          <p:nvPr/>
        </p:nvSpPr>
        <p:spPr>
          <a:xfrm>
            <a:off x="4663440" y="205740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E8F4F5"/>
          </a:solidFill>
          <a:ln/>
        </p:spPr>
      </p:sp>
      <p:sp>
        <p:nvSpPr>
          <p:cNvPr id="8" name="Insight stat 2"/>
          <p:cNvSpPr txBox="1"/>
          <p:nvPr/>
        </p:nvSpPr>
        <p:spPr>
          <a:xfrm>
            <a:off x="4754880" y="205740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31.7%</a:t>
            </a:r>
            <a:endParaRPr lang="en-US" sz="2200" dirty="0"/>
          </a:p>
        </p:txBody>
      </p:sp>
      <p:sp>
        <p:nvSpPr>
          <p:cNvPr id="9" name="Insight text 2"/>
          <p:cNvSpPr txBox="1"/>
          <p:nvPr/>
        </p:nvSpPr>
        <p:spPr>
          <a:xfrm>
            <a:off x="6126480" y="205740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</a:rPr>
              <a:t>of orders are Pending. Their revenue is 1.88 Cr (30.4% of revenue).</a:t>
            </a:r>
            <a:endParaRPr lang="en-US" sz="1300" dirty="0"/>
          </a:p>
        </p:txBody>
      </p:sp>
      <p:sp>
        <p:nvSpPr>
          <p:cNvPr id="10" name="Insight card 3"/>
          <p:cNvSpPr/>
          <p:nvPr/>
        </p:nvSpPr>
        <p:spPr>
          <a:xfrm>
            <a:off x="4663440" y="292608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E8F4F5"/>
          </a:solidFill>
          <a:ln/>
        </p:spPr>
      </p:sp>
      <p:sp>
        <p:nvSpPr>
          <p:cNvPr id="11" name="Insight stat 3"/>
          <p:cNvSpPr txBox="1"/>
          <p:nvPr/>
        </p:nvSpPr>
        <p:spPr>
          <a:xfrm>
            <a:off x="4754880" y="292608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Central</a:t>
            </a:r>
            <a:endParaRPr lang="en-US" sz="2200" dirty="0"/>
          </a:p>
        </p:txBody>
      </p:sp>
      <p:sp>
        <p:nvSpPr>
          <p:cNvPr id="12" name="Insight text 3"/>
          <p:cNvSpPr txBox="1"/>
          <p:nvPr/>
        </p:nvSpPr>
        <p:spPr>
          <a:xfrm>
            <a:off x="6126480" y="292608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</a:rPr>
              <a:t>is the top region (1.30 Cr). East is the lowest named region at 1.15 Cr.</a:t>
            </a:r>
            <a:endParaRPr lang="en-US" sz="1300" dirty="0"/>
          </a:p>
        </p:txBody>
      </p:sp>
      <p:sp>
        <p:nvSpPr>
          <p:cNvPr id="13" name="Insight card 4"/>
          <p:cNvSpPr/>
          <p:nvPr/>
        </p:nvSpPr>
        <p:spPr>
          <a:xfrm>
            <a:off x="4663440" y="3794760"/>
            <a:ext cx="4023360" cy="749808"/>
          </a:xfrm>
          <a:prstGeom prst="roundRect">
            <a:avLst>
              <a:gd name="adj" fmla="val 9756"/>
            </a:avLst>
          </a:prstGeom>
          <a:solidFill>
            <a:srgbClr val="E8F4F5"/>
          </a:solidFill>
          <a:ln/>
        </p:spPr>
      </p:sp>
      <p:sp>
        <p:nvSpPr>
          <p:cNvPr id="14" name="Insight stat 4"/>
          <p:cNvSpPr txBox="1"/>
          <p:nvPr/>
        </p:nvSpPr>
        <p:spPr>
          <a:xfrm>
            <a:off x="4754880" y="3794760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~20%</a:t>
            </a:r>
            <a:endParaRPr lang="en-US" sz="2200" dirty="0"/>
          </a:p>
        </p:txBody>
      </p:sp>
      <p:sp>
        <p:nvSpPr>
          <p:cNvPr id="15" name="Insight text 4"/>
          <p:cNvSpPr txBox="1"/>
          <p:nvPr/>
        </p:nvSpPr>
        <p:spPr>
          <a:xfrm>
            <a:off x="6126480" y="37947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</a:rPr>
              <a:t>each: all five categories are close, Apparel leads at 20.9%.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Recommendations</a:t>
            </a:r>
            <a:endParaRPr lang="en-US" sz="3000" dirty="0"/>
          </a:p>
        </p:txBody>
      </p:sp>
      <p:sp>
        <p:nvSpPr>
          <p:cNvPr id="3" name="Rec card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8F4F5"/>
          </a:solidFill>
          <a:ln/>
        </p:spPr>
      </p:sp>
      <p:sp>
        <p:nvSpPr>
          <p:cNvPr id="4" name="Rec num 1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Rec numText 1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Rec head 1"/>
          <p:cNvSpPr txBox="1"/>
          <p:nvPr/>
        </p:nvSpPr>
        <p:spPr>
          <a:xfrm>
            <a:off x="1325880" y="1417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Recover pending payments</a:t>
            </a:r>
            <a:endParaRPr lang="en-US" sz="1600" dirty="0"/>
          </a:p>
        </p:txBody>
      </p:sp>
      <p:sp>
        <p:nvSpPr>
          <p:cNvPr id="7" name="Rec body 1"/>
          <p:cNvSpPr txBox="1"/>
          <p:nvPr/>
        </p:nvSpPr>
        <p:spPr>
          <a:xfrm>
            <a:off x="685800" y="2011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Daily alerts for orders pending over 48 hours. 1.88 Cr is waiting.</a:t>
            </a:r>
            <a:endParaRPr lang="en-US" sz="1400" dirty="0"/>
          </a:p>
        </p:txBody>
      </p:sp>
      <p:sp>
        <p:nvSpPr>
          <p:cNvPr id="8" name="Rec card 2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8F4F5"/>
          </a:solidFill>
          <a:ln/>
        </p:spPr>
      </p:sp>
      <p:sp>
        <p:nvSpPr>
          <p:cNvPr id="9" name="Rec num 2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Rec numText 2"/>
          <p:cNvSpPr txBox="1"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Rec head 2"/>
          <p:cNvSpPr txBox="1"/>
          <p:nvPr/>
        </p:nvSpPr>
        <p:spPr>
          <a:xfrm>
            <a:off x="5532120" y="1417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Enforce entry validation</a:t>
            </a:r>
            <a:endParaRPr lang="en-US" sz="1600" dirty="0"/>
          </a:p>
        </p:txBody>
      </p:sp>
      <p:sp>
        <p:nvSpPr>
          <p:cNvPr id="12" name="Rec body 2"/>
          <p:cNvSpPr txBox="1"/>
          <p:nvPr/>
        </p:nvSpPr>
        <p:spPr>
          <a:xfrm>
            <a:off x="4892040" y="2011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Dropdowns and required fields stop blank Region, Sales Rep and Order ID.</a:t>
            </a:r>
            <a:endParaRPr lang="en-US" sz="1400" dirty="0"/>
          </a:p>
        </p:txBody>
      </p:sp>
      <p:sp>
        <p:nvSpPr>
          <p:cNvPr id="13" name="Rec card 3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8F4F5"/>
          </a:solidFill>
          <a:ln/>
        </p:spPr>
      </p:sp>
      <p:sp>
        <p:nvSpPr>
          <p:cNvPr id="14" name="Rec num 3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Rec numText 3"/>
          <p:cNvSpPr txBox="1"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Rec head 3"/>
          <p:cNvSpPr txBox="1"/>
          <p:nvPr/>
        </p:nvSpPr>
        <p:spPr>
          <a:xfrm>
            <a:off x="132588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Capture dates properly</a:t>
            </a:r>
            <a:endParaRPr lang="en-US" sz="1600" dirty="0"/>
          </a:p>
        </p:txBody>
      </p:sp>
      <p:sp>
        <p:nvSpPr>
          <p:cNvPr id="17" name="Rec body 3"/>
          <p:cNvSpPr txBox="1"/>
          <p:nvPr/>
        </p:nvSpPr>
        <p:spPr>
          <a:xfrm>
            <a:off x="685800" y="37947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Use a date picker. Placeholder dates distort the monthly trend.</a:t>
            </a:r>
            <a:endParaRPr lang="en-US" sz="1400" dirty="0"/>
          </a:p>
        </p:txBody>
      </p:sp>
      <p:sp>
        <p:nvSpPr>
          <p:cNvPr id="18" name="Rec card 4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E8F4F5"/>
          </a:solidFill>
          <a:ln/>
        </p:spPr>
      </p:sp>
      <p:sp>
        <p:nvSpPr>
          <p:cNvPr id="19" name="Rec num 4"/>
          <p:cNvSpPr/>
          <p:nvPr/>
        </p:nvSpPr>
        <p:spPr>
          <a:xfrm>
            <a:off x="4892040" y="3200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Rec numText 4"/>
          <p:cNvSpPr txBox="1"/>
          <p:nvPr/>
        </p:nvSpPr>
        <p:spPr>
          <a:xfrm>
            <a:off x="48920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Rec head 4"/>
          <p:cNvSpPr txBox="1"/>
          <p:nvPr/>
        </p:nvSpPr>
        <p:spPr>
          <a:xfrm>
            <a:off x="553212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</a:rPr>
              <a:t>Review the East region</a:t>
            </a:r>
            <a:endParaRPr lang="en-US" sz="1600" dirty="0"/>
          </a:p>
        </p:txBody>
      </p:sp>
      <p:sp>
        <p:nvSpPr>
          <p:cNvPr id="22" name="Rec body 4"/>
          <p:cNvSpPr txBox="1"/>
          <p:nvPr/>
        </p:nvSpPr>
        <p:spPr>
          <a:xfrm>
            <a:off x="4892040" y="37947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</a:rPr>
              <a:t>Lowest revenue of the named regions. Check pricing and coverage.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A8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3" name="Conclusion stat"/>
          <p:cNvSpPr txBox="1"/>
          <p:nvPr/>
        </p:nvSpPr>
        <p:spPr>
          <a:xfrm>
            <a:off x="548640" y="1371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</a:rPr>
              <a:t>10,200 → 10,000</a:t>
            </a:r>
            <a:endParaRPr lang="en-US" sz="4000" dirty="0"/>
          </a:p>
        </p:txBody>
      </p:sp>
      <p:sp>
        <p:nvSpPr>
          <p:cNvPr id="4" name="Conclusion text"/>
          <p:cNvSpPr txBox="1"/>
          <p:nvPr/>
        </p:nvSpPr>
        <p:spPr>
          <a:xfrm>
            <a:off x="548640" y="2240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rows after removing duplicates. 1,627 exceptions are flagged for follow-up instead of being guessed.</a:t>
            </a:r>
            <a:endParaRPr lang="en-US" sz="1600" dirty="0"/>
          </a:p>
        </p:txBody>
      </p:sp>
      <p:sp>
        <p:nvSpPr>
          <p:cNvPr id="5" name="Conclusion sub"/>
          <p:cNvSpPr txBox="1"/>
          <p:nvPr/>
        </p:nvSpPr>
        <p:spPr>
          <a:xfrm>
            <a:off x="548640" y="3383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8EA"/>
                </a:solidFill>
              </a:rPr>
              <a:t>A cleaned dataset, a formula-driven Excel dashboard and an AI-assisted report, built end to end.</a:t>
            </a:r>
            <a:endParaRPr lang="en-US" sz="1400" dirty="0"/>
          </a:p>
        </p:txBody>
      </p:sp>
      <p:sp>
        <p:nvSpPr>
          <p:cNvPr id="6" name="Roadmap card"/>
          <p:cNvSpPr/>
          <p:nvPr/>
        </p:nvSpPr>
        <p:spPr>
          <a:xfrm>
            <a:off x="5029200" y="1371600"/>
            <a:ext cx="3657600" cy="2926080"/>
          </a:xfrm>
          <a:prstGeom prst="roundRect">
            <a:avLst>
              <a:gd name="adj" fmla="val 3750"/>
            </a:avLst>
          </a:prstGeom>
          <a:solidFill>
            <a:srgbClr val="028090"/>
          </a:solidFill>
          <a:ln/>
        </p:spPr>
      </p:sp>
      <p:sp>
        <p:nvSpPr>
          <p:cNvPr id="7" name="Roadmap label"/>
          <p:cNvSpPr txBox="1"/>
          <p:nvPr/>
        </p:nvSpPr>
        <p:spPr>
          <a:xfrm>
            <a:off x="5303520" y="1600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PHASE 2 ROADMAP</a:t>
            </a:r>
            <a:endParaRPr lang="en-US" sz="1200" dirty="0"/>
          </a:p>
        </p:txBody>
      </p:sp>
      <p:sp>
        <p:nvSpPr>
          <p:cNvPr id="8" name="Roadmap list"/>
          <p:cNvSpPr txBox="1"/>
          <p:nvPr/>
        </p:nvSpPr>
        <p:spPr>
          <a:xfrm>
            <a:off x="5303520" y="20574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One-click Power Query refresh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Excel PivotTables with slicers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Power BI dashboard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S Teal">
  <a:themeElements>
    <a:clrScheme name="MIS Teal">
      <a:dk1>
        <a:srgbClr val="1B2B34"/>
      </a:dk1>
      <a:lt1>
        <a:srgbClr val="FFFFFF"/>
      </a:lt1>
      <a:dk2>
        <a:srgbClr val="0B3C49"/>
      </a:dk2>
      <a:lt2>
        <a:srgbClr val="E8F4F5"/>
      </a:lt2>
      <a:accent1>
        <a:srgbClr val="028090"/>
      </a:accent1>
      <a:accent2>
        <a:srgbClr val="F2A541"/>
      </a:accent2>
      <a:accent3>
        <a:srgbClr val="00A896"/>
      </a:accent3>
      <a:accent4>
        <a:srgbClr val="6C7A89"/>
      </a:accent4>
      <a:accent5>
        <a:srgbClr val="D1495B"/>
      </a:accent5>
      <a:accent6>
        <a:srgbClr val="3D5A80"/>
      </a:accent6>
      <a:hlink>
        <a:srgbClr val="028090"/>
      </a:hlink>
      <a:folHlink>
        <a:srgbClr val="6C7A89"/>
      </a:folHlink>
    </a:clrScheme>
    <a:fontScheme name="MIS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Data Management &amp; MIS Reporting System</dc:title>
  <dc:subject>PptxGenJS Presentation</dc:subject>
  <dc:creator>PptxGenJS</dc:creator>
  <cp:lastModifiedBy>PptxGenJS</cp:lastModifiedBy>
  <cp:revision>1</cp:revision>
  <dcterms:created xsi:type="dcterms:W3CDTF">2026-10-09T01:07:47Z</dcterms:created>
  <dcterms:modified xsi:type="dcterms:W3CDTF">2026-10-09T01:07:47Z</dcterms:modified>
</cp:coreProperties>
</file>