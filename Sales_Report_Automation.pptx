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4E79"/>
                </a:solidFill>
                <a:latin typeface="Arial"/>
              </a:rPr>
              <a:t>Region-wise Sales &amp; Profit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501240</c:v>
                </c:pt>
                <c:pt idx="1">
                  <c:v>678781</c:v>
                </c:pt>
                <c:pt idx="2">
                  <c:v>391722</c:v>
                </c:pt>
                <c:pt idx="3">
                  <c:v>725458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39707</c:v>
                </c:pt>
                <c:pt idx="1">
                  <c:v>91523</c:v>
                </c:pt>
                <c:pt idx="2">
                  <c:v>46749</c:v>
                </c:pt>
                <c:pt idx="3">
                  <c:v>108418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4E79"/>
                </a:solidFill>
                <a:latin typeface="Arial"/>
              </a:rPr>
              <a:t>Category Profit Margin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0.0249</c:v>
                </c:pt>
                <c:pt idx="1">
                  <c:v>0.1698</c:v>
                </c:pt>
                <c:pt idx="2">
                  <c:v>0.1745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4E79"/>
                </a:solidFill>
                <a:latin typeface="Arial"/>
              </a:rPr>
              <a:t>Monthly Sales Trend (2014–2017)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F4E79"/>
            </a:solidFill>
            <a:ln w="28575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2014-01</c:v>
                  </c:pt>
                  <c:pt idx="1">
                    <c:v>2014-03</c:v>
                  </c:pt>
                  <c:pt idx="2">
                    <c:v>2014-05</c:v>
                  </c:pt>
                  <c:pt idx="3">
                    <c:v>2014-07</c:v>
                  </c:pt>
                  <c:pt idx="4">
                    <c:v>2014-09</c:v>
                  </c:pt>
                  <c:pt idx="5">
                    <c:v>2014-11</c:v>
                  </c:pt>
                  <c:pt idx="6">
                    <c:v>2015-01</c:v>
                  </c:pt>
                  <c:pt idx="7">
                    <c:v>2015-03</c:v>
                  </c:pt>
                  <c:pt idx="8">
                    <c:v>2015-05</c:v>
                  </c:pt>
                  <c:pt idx="9">
                    <c:v>2015-07</c:v>
                  </c:pt>
                  <c:pt idx="10">
                    <c:v>2015-09</c:v>
                  </c:pt>
                  <c:pt idx="11">
                    <c:v>2015-11</c:v>
                  </c:pt>
                  <c:pt idx="12">
                    <c:v>2016-01</c:v>
                  </c:pt>
                  <c:pt idx="13">
                    <c:v>2016-03</c:v>
                  </c:pt>
                  <c:pt idx="14">
                    <c:v>2016-05</c:v>
                  </c:pt>
                  <c:pt idx="15">
                    <c:v>2016-07</c:v>
                  </c:pt>
                  <c:pt idx="16">
                    <c:v>2016-09</c:v>
                  </c:pt>
                  <c:pt idx="17">
                    <c:v>2016-11</c:v>
                  </c:pt>
                  <c:pt idx="18">
                    <c:v>2017-01</c:v>
                  </c:pt>
                  <c:pt idx="19">
                    <c:v>2017-03</c:v>
                  </c:pt>
                  <c:pt idx="20">
                    <c:v>2017-05</c:v>
                  </c:pt>
                  <c:pt idx="21">
                    <c:v>2017-07</c:v>
                  </c:pt>
                  <c:pt idx="22">
                    <c:v>2017-09</c:v>
                  </c:pt>
                  <c:pt idx="23">
                    <c:v>2017-11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14235</c:v>
                </c:pt>
                <c:pt idx="1">
                  <c:v>54595</c:v>
                </c:pt>
                <c:pt idx="2">
                  <c:v>26232</c:v>
                </c:pt>
                <c:pt idx="3">
                  <c:v>32586</c:v>
                </c:pt>
                <c:pt idx="4">
                  <c:v>81828</c:v>
                </c:pt>
                <c:pt idx="5">
                  <c:v>78628</c:v>
                </c:pt>
                <c:pt idx="6">
                  <c:v>18855</c:v>
                </c:pt>
                <c:pt idx="7">
                  <c:v>38609</c:v>
                </c:pt>
                <c:pt idx="8">
                  <c:v>25101</c:v>
                </c:pt>
                <c:pt idx="9">
                  <c:v>36214</c:v>
                </c:pt>
                <c:pt idx="10">
                  <c:v>64216</c:v>
                </c:pt>
                <c:pt idx="11">
                  <c:v>76181</c:v>
                </c:pt>
                <c:pt idx="12">
                  <c:v>19278</c:v>
                </c:pt>
                <c:pt idx="13">
                  <c:v>50713</c:v>
                </c:pt>
                <c:pt idx="14">
                  <c:v>55823</c:v>
                </c:pt>
                <c:pt idx="15">
                  <c:v>38934</c:v>
                </c:pt>
                <c:pt idx="16">
                  <c:v>73183</c:v>
                </c:pt>
                <c:pt idx="17">
                  <c:v>96622</c:v>
                </c:pt>
                <c:pt idx="18">
                  <c:v>44262</c:v>
                </c:pt>
                <c:pt idx="19">
                  <c:v>58824</c:v>
                </c:pt>
                <c:pt idx="20">
                  <c:v>36913</c:v>
                </c:pt>
                <c:pt idx="21">
                  <c:v>50108</c:v>
                </c:pt>
                <c:pt idx="22">
                  <c:v>45777</c:v>
                </c:pt>
                <c:pt idx="23">
                  <c:v>88526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4E79"/>
                </a:solidFill>
                <a:latin typeface="Arial"/>
              </a:rPr>
              <a:t>Top 5 Best-Selling Products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Canon Copier 2200</c:v>
                  </c:pt>
                  <c:pt idx="1">
                    <c:v>Fellowes PB500 Binder</c:v>
                  </c:pt>
                  <c:pt idx="2">
                    <c:v>Cisco TelePresence EX90</c:v>
                  </c:pt>
                  <c:pt idx="3">
                    <c:v>HON Task Chairs</c:v>
                  </c:pt>
                  <c:pt idx="4">
                    <c:v>GBC DocuBind TL300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61600</c:v>
                </c:pt>
                <c:pt idx="1">
                  <c:v>27453</c:v>
                </c:pt>
                <c:pt idx="2">
                  <c:v>22638</c:v>
                </c:pt>
                <c:pt idx="3">
                  <c:v>21870</c:v>
                </c:pt>
                <c:pt idx="4">
                  <c:v>19983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BD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SQL, Excel &amp; AI-Generated Insights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Afifah Khatoon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Aspiring Data Analyst  |  SQL • Excel • Power BI • Tableau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generate large volumes of transactional data daily, but converting raw data into actionable insight is usually slow, manual, and repeated every reporting cycle.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Query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raw sales data in a SQL database and extract key metrics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8346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10896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 Insights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42519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auto-generate plain-language business insights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8346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310896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Professionally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03920" y="42519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findings via an interactive Excel dashboard &amp; PPT deck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 Automation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a recruiter-ready report — a repeatable, automatable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8096" y="219456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2359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9536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cleaned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standardized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Excel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42616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62656" y="219456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2962656" y="2359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54096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into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Workbench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37176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57216" y="219456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5157216" y="2359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48656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 extract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&amp; trends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31736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51776" y="219456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7351776" y="2359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43216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plain-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business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26296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46336" y="219456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9546336" y="2359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37776" y="27432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dashboard +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deck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09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 </a:t>
            </a:r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Workbench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470916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709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Cleaning:  </a:t>
            </a:r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Excel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0" y="470916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709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  </a:t>
            </a:r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(Joins, Aggregations, Window Functions)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3949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Insights:  </a:t>
            </a:r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89120" y="539496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53949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Reporting:  </a:t>
            </a:r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(KPIs, Charts, Dashboards)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29600" y="539496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53949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Presentation:  </a:t>
            </a:r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PowerPoint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 Automation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 Cleaning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5176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(Superstore Sales Dataset)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5176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9,994 rows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5176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5176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 – 2017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5176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5605272" cy="4480560"/>
          </a:xfrm>
          <a:prstGeom prst="roundRect">
            <a:avLst>
              <a:gd name="adj" fmla="val 1633"/>
            </a:avLst>
          </a:prstGeom>
          <a:solidFill>
            <a:srgbClr val="1F4E7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Steps (Excel)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raw dataset (9,994 rows) into Excel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25786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25786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inconsistent date formats (Order &amp; Ship Date)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31455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31455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for and removed duplicate rows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55080" y="371246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37124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dataset for missing values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42793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42793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 Postal Code as text to keep leading zeros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5508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4846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final clean dataset for SQL import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 Automation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SQL-Based Data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queries — from basic aggregation to advanced window functions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Import Verification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all 9,994 rows loaded correctly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508760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819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Region-Wise Sales &amp; Profit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189280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performance across 4 regions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04872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78024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Best-Selling Products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2788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highest revenue-generating products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2404872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404872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478024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Trend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2788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Revealed seasonal patterns across 4 years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00984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00984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37413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Category-Wise Profitability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36850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margin % across categories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3300984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300984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37413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Loss-Making Sub-Categories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36850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underperforming product lines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197096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197096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702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Ranking (Window Function)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" y="458114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RANK() + PARTITION BY for top product per category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 Automation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— Regional &amp; Category Performance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45352" y="10515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9776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39776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leads in both sales ($725K) and profit ($108K); Central lags across the board.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245352" y="39776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28232" y="39776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(17.4%) and Office Supplies (17.0%) are healthy; Furniture margin is just 2.5%.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4937760"/>
            <a:ext cx="11274552" cy="1234440"/>
          </a:xfrm>
          <a:prstGeom prst="roundRect">
            <a:avLst>
              <a:gd name="adj" fmla="val 4444"/>
            </a:avLst>
          </a:prstGeom>
          <a:solidFill>
            <a:srgbClr val="FCEBEA"/>
          </a:solidFill>
          <a:ln w="12700">
            <a:solidFill>
              <a:srgbClr val="F0BAB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Loss-Making Sub-Categories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5440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Tables: -$17,725    |    Bookcases: -$3,473    |    Supplies: -$1,189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 Automation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— Trend &amp; Top Products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" y="3611880"/>
          <a:ext cx="54864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6245352" y="361188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1F4E79"/>
          </a:solidFill>
          <a:ln/>
        </p:spPr>
      </p:sp>
      <p:sp>
        <p:nvSpPr>
          <p:cNvPr id="6" name="Text 2"/>
          <p:cNvSpPr/>
          <p:nvPr/>
        </p:nvSpPr>
        <p:spPr>
          <a:xfrm>
            <a:off x="649224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92240" y="42519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Sales peak every Q4 — November 2017 was the highest month ($118K), a clear holiday-driven seasonal pattern.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High-value equipment (copiers, binding machines) drives more revenue than everyday office items — the top product alone made $61.6K, ~2.5x the next highest.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 Automation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Business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 results passed to an AI model to auto-generate plain-language insights &amp; recommendations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64792"/>
            <a:ext cx="420624" cy="42062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is the strongest region ($725K sales, $108K profit); Central underperforms and may need pricing/marketing review.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60904"/>
            <a:ext cx="420624" cy="42062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60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2496312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generates high sales ($742K) but only 2.49% margin — heavy discounting is eroding profit.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557016"/>
            <a:ext cx="420624" cy="42062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570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3392424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are actively losing money (-$17,725) — the single biggest drag on Furniture's profitability.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53128"/>
            <a:ext cx="420624" cy="42062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53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4288536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peak every November — a consistent Q4/holiday pattern useful for inventory &amp; staffing planning.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349240"/>
            <a:ext cx="420624" cy="42062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49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5184648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business is healthy (12.47% margin) but pulled down significantly by Furniture category losses.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 Automation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Excel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Formula-driven KPIs and charts — auto-updates whenever the underlying data changes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$22,97,201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600200"/>
            <a:ext cx="2606040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0" y="205740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$2,86,397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00200"/>
            <a:ext cx="2606040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600200"/>
            <a:ext cx="2606040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52560" y="205740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Includes: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live KPI cards (Total Sales, Profit, Margin, Orders)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566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Region-wise Sales &amp; Profit bar chart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069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Category-wise Profit Margin chart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4069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Trend line chart (2014–2017)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Best-Selling Products chart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4572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Loss-making sub-categories alert table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Full dashboard available on GitHub — see link in project documentation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 Automation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discount strategy on Tables &amp; Bookcases to reduce losses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low performance in the Central region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inventory &amp; staffing around the consistent Q4 sales peak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00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high-margin Technology products more aggressively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91672" cy="0"/>
          </a:xfrm>
          <a:prstGeom prst="line">
            <a:avLst/>
          </a:prstGeom>
          <a:noFill/>
          <a:ln w="12700">
            <a:solidFill>
              <a:srgbClr val="3E5C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demonstrates a complete data analytics automation pipeline — from raw data cleaning, through SQL-based analysis, to AI-assisted insight generation and stakeholder-ready reporting. It reflects practical, job-relevant skills in SQL, Excel automation, and applied use of AI tools directly relevant to Data Analyst and MIS Executive roles.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Sales Report Automation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2026-07-26T13:57:34Z</dcterms:created>
  <dcterms:modified xsi:type="dcterms:W3CDTF">2026-07-26T13:57:34Z</dcterms:modified>
</cp:coreProperties>
</file>