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93a4ef20-7b41-ad6f-1d82-084835cfe8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3C49"/>
                </a:solidFill>
                <a:latin typeface="+mn-lt"/>
              </a:rPr>
              <a:t>Revenue by Category (M)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C4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Apparel</c:v>
                  </c:pt>
                  <c:pt idx="1">
                    <c:v>Services</c:v>
                  </c:pt>
                  <c:pt idx="2">
                    <c:v>Furniture</c:v>
                  </c:pt>
                  <c:pt idx="3">
                    <c:v>Office Supplies</c:v>
                  </c:pt>
                  <c:pt idx="4">
                    <c:v>Electronics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12.92</c:v>
                </c:pt>
                <c:pt idx="1">
                  <c:v>12.73</c:v>
                </c:pt>
                <c:pt idx="2">
                  <c:v>12.47</c:v>
                </c:pt>
                <c:pt idx="3">
                  <c:v>11.94</c:v>
                </c:pt>
                <c:pt idx="4">
                  <c:v>11.88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3C4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3C49"/>
                </a:solidFill>
                <a:latin typeface="+mn-lt"/>
              </a:rPr>
              <a:t>Orders by Payment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541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D1495B"/>
              </a:solidFill>
              <a:effectLst/>
            </c:spPr>
          </c:dPt>
          <c:dPt>
            <c:idx val="3"/>
            <c:bubble3D val="0"/>
            <c:spPr>
              <a:solidFill>
                <a:srgbClr val="6C7A8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Pending</c:v>
                </c:pt>
                <c:pt idx="1">
                  <c:v>Paid</c:v>
                </c:pt>
                <c:pt idx="2">
                  <c:v>Failed</c:v>
                </c:pt>
                <c:pt idx="3">
                  <c:v>Refunded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3167</c:v>
                </c:pt>
                <c:pt idx="1">
                  <c:v>2291</c:v>
                </c:pt>
                <c:pt idx="2">
                  <c:v>2274</c:v>
                </c:pt>
                <c:pt idx="3">
                  <c:v>2268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3C4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FE8E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541"/>
                </a:solidFill>
              </a:rPr>
              <a:t>FLAGSHIP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Data Management &amp; MIS Reporting System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A"/>
                </a:solidFill>
              </a:rPr>
              <a:t>10,200 raw business records cleaned, validated and reported using Excel, AI and PowerPoint.</a:t>
            </a:r>
            <a:endParaRPr lang="en-US" sz="1600" dirty="0"/>
          </a:p>
        </p:txBody>
      </p:sp>
      <p:sp>
        <p:nvSpPr>
          <p:cNvPr id="5" name="Pill MS Excel"/>
          <p:cNvSpPr/>
          <p:nvPr/>
        </p:nvSpPr>
        <p:spPr>
          <a:xfrm>
            <a:off x="548640" y="3749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PillText MS Excel"/>
          <p:cNvSpPr txBox="1"/>
          <p:nvPr/>
        </p:nvSpPr>
        <p:spPr>
          <a:xfrm>
            <a:off x="54864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 Excel</a:t>
            </a:r>
            <a:endParaRPr lang="en-US" sz="1400" dirty="0"/>
          </a:p>
        </p:txBody>
      </p:sp>
      <p:sp>
        <p:nvSpPr>
          <p:cNvPr id="7" name="Pill AI Assistance"/>
          <p:cNvSpPr/>
          <p:nvPr/>
        </p:nvSpPr>
        <p:spPr>
          <a:xfrm>
            <a:off x="2468880" y="3749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PillText AI Assistance"/>
          <p:cNvSpPr txBox="1"/>
          <p:nvPr/>
        </p:nvSpPr>
        <p:spPr>
          <a:xfrm>
            <a:off x="246888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Assistance</a:t>
            </a:r>
            <a:endParaRPr lang="en-US" sz="1400" dirty="0"/>
          </a:p>
        </p:txBody>
      </p:sp>
      <p:sp>
        <p:nvSpPr>
          <p:cNvPr id="9" name="Pill MS PowerPoint"/>
          <p:cNvSpPr/>
          <p:nvPr/>
        </p:nvSpPr>
        <p:spPr>
          <a:xfrm>
            <a:off x="4389120" y="3749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PillText MS PowerPoint"/>
          <p:cNvSpPr txBox="1"/>
          <p:nvPr/>
        </p:nvSpPr>
        <p:spPr>
          <a:xfrm>
            <a:off x="438912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 PowerPoint</a:t>
            </a:r>
            <a:endParaRPr lang="en-US" sz="1400" dirty="0"/>
          </a:p>
        </p:txBody>
      </p:sp>
      <p:sp>
        <p:nvSpPr>
          <p:cNvPr id="11" name="Note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8EA"/>
                </a:solidFill>
              </a:rPr>
              <a:t>Based on a sample business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Entry &amp; Validation Rules</a:t>
            </a:r>
            <a:endParaRPr lang="en-US" sz="3000" dirty="0"/>
          </a:p>
        </p:txBody>
      </p:sp>
      <p:sp>
        <p:nvSpPr>
          <p:cNvPr id="3" name="Stat panel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/>
        </p:spPr>
      </p:sp>
      <p:sp>
        <p:nvSpPr>
          <p:cNvPr id="4" name="Stat big"/>
          <p:cNvSpPr txBox="1"/>
          <p:nvPr/>
        </p:nvSpPr>
        <p:spPr>
          <a:xfrm>
            <a:off x="45720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</a:rPr>
              <a:t>10,200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3C49"/>
                </a:solidFill>
              </a:rPr>
              <a:t>raw records entered</a:t>
            </a:r>
            <a:endParaRPr lang="en-US" sz="1600" dirty="0"/>
          </a:p>
        </p:txBody>
      </p:sp>
      <p:sp>
        <p:nvSpPr>
          <p:cNvPr id="6" name="Stat note"/>
          <p:cNvSpPr txBox="1"/>
          <p:nvPr/>
        </p:nvSpPr>
        <p:spPr>
          <a:xfrm>
            <a:off x="68580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10 fields per record: ID, date, customer, region, category, sales rep, units, price, revenue, payment status</a:t>
            </a:r>
            <a:endParaRPr lang="en-US" sz="1400" dirty="0"/>
          </a:p>
        </p:txBody>
      </p:sp>
      <p:sp>
        <p:nvSpPr>
          <p:cNvPr id="7" name="Num 1"/>
          <p:cNvSpPr/>
          <p:nvPr/>
        </p:nvSpPr>
        <p:spPr>
          <a:xfrm>
            <a:off x="3566160" y="1234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NumText 1"/>
          <p:cNvSpPr txBox="1"/>
          <p:nvPr/>
        </p:nvSpPr>
        <p:spPr>
          <a:xfrm>
            <a:off x="35661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tep head 1"/>
          <p:cNvSpPr txBox="1"/>
          <p:nvPr/>
        </p:nvSpPr>
        <p:spPr>
          <a:xfrm>
            <a:off x="4251960" y="1188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Defined field formats</a:t>
            </a:r>
            <a:endParaRPr lang="en-US" sz="1800" dirty="0"/>
          </a:p>
        </p:txBody>
      </p:sp>
      <p:sp>
        <p:nvSpPr>
          <p:cNvPr id="10" name="Step body 1"/>
          <p:cNvSpPr txBox="1"/>
          <p:nvPr/>
        </p:nvSpPr>
        <p:spPr>
          <a:xfrm>
            <a:off x="4251960" y="15544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Order ID as ORD-#####, one date format, 5 categories, 4 payment statuses.</a:t>
            </a:r>
            <a:endParaRPr lang="en-US" sz="1400" dirty="0"/>
          </a:p>
        </p:txBody>
      </p:sp>
      <p:sp>
        <p:nvSpPr>
          <p:cNvPr id="11" name="Num 2"/>
          <p:cNvSpPr/>
          <p:nvPr/>
        </p:nvSpPr>
        <p:spPr>
          <a:xfrm>
            <a:off x="3566160" y="24048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NumText 2"/>
          <p:cNvSpPr txBox="1"/>
          <p:nvPr/>
        </p:nvSpPr>
        <p:spPr>
          <a:xfrm>
            <a:off x="35661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 head 2"/>
          <p:cNvSpPr txBox="1"/>
          <p:nvPr/>
        </p:nvSpPr>
        <p:spPr>
          <a:xfrm>
            <a:off x="4251960" y="23591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Set validation rules</a:t>
            </a:r>
            <a:endParaRPr lang="en-US" sz="1800" dirty="0"/>
          </a:p>
        </p:txBody>
      </p:sp>
      <p:sp>
        <p:nvSpPr>
          <p:cNvPr id="14" name="Step body 2"/>
          <p:cNvSpPr txBox="1"/>
          <p:nvPr/>
        </p:nvSpPr>
        <p:spPr>
          <a:xfrm>
            <a:off x="4251960" y="272491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Units × Unit Price must equal Total Revenue. Region and Sales Rep required. No duplicate rows.</a:t>
            </a:r>
            <a:endParaRPr lang="en-US" sz="1400" dirty="0"/>
          </a:p>
        </p:txBody>
      </p:sp>
      <p:sp>
        <p:nvSpPr>
          <p:cNvPr id="15" name="Num 3"/>
          <p:cNvSpPr/>
          <p:nvPr/>
        </p:nvSpPr>
        <p:spPr>
          <a:xfrm>
            <a:off x="3566160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NumText 3"/>
          <p:cNvSpPr txBox="1"/>
          <p:nvPr/>
        </p:nvSpPr>
        <p:spPr>
          <a:xfrm>
            <a:off x="35661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head 3"/>
          <p:cNvSpPr txBox="1"/>
          <p:nvPr/>
        </p:nvSpPr>
        <p:spPr>
          <a:xfrm>
            <a:off x="4251960" y="35295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Audited before cleaning</a:t>
            </a:r>
            <a:endParaRPr lang="en-US" sz="1800" dirty="0"/>
          </a:p>
        </p:txBody>
      </p:sp>
      <p:sp>
        <p:nvSpPr>
          <p:cNvPr id="18" name="Step body 3"/>
          <p:cNvSpPr txBox="1"/>
          <p:nvPr/>
        </p:nvSpPr>
        <p:spPr>
          <a:xfrm>
            <a:off x="4251960" y="389534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Duplicates, blanks and mixed formats were counted first, then fixed.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Quality Problems Found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2194560"/>
                <a:gridCol w="1920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taken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Excel equivalent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Duplicate rows (raw data)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Removed, first copy kept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Remove Duplicates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Mixed date formats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1,457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Converted to real dates, flagged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DATEVALUE / Text to Columns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Inconsistent text (category, status, customer)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3,550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Trimmed spaces, fixed case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TRIM + PROPER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Missing Region / Sales Rep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500 / 400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Marked "Unassigned"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IF + ISBLANK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Missing Price and Revenue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Not guessed, flagged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Filter blanks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Missing Order ID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197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Not guessed, flagged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Filter blanks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45720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7A89"/>
                </a:solidFill>
              </a:rPr>
              <a:t>Duplicates are counted in the 10,200 raw rows; other counts are on the 10,000 rows left. The 1,457 mixed-format dates are two repeated values (15-08-2025, 31-12-2025) that look like placeholders, so they were kept and flagged.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Excel Dashboard &amp; Key Results</a:t>
            </a:r>
            <a:endParaRPr lang="en-US" sz="3000" dirty="0"/>
          </a:p>
        </p:txBody>
      </p:sp>
      <p:sp>
        <p:nvSpPr>
          <p:cNvPr id="3" name="KPI card 1"/>
          <p:cNvSpPr/>
          <p:nvPr/>
        </p:nvSpPr>
        <p:spPr>
          <a:xfrm>
            <a:off x="45720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4" name="KPI value 1"/>
          <p:cNvSpPr txBox="1"/>
          <p:nvPr/>
        </p:nvSpPr>
        <p:spPr>
          <a:xfrm>
            <a:off x="45720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61.93M</a:t>
            </a:r>
            <a:endParaRPr lang="en-US" sz="3000" dirty="0"/>
          </a:p>
        </p:txBody>
      </p:sp>
      <p:sp>
        <p:nvSpPr>
          <p:cNvPr id="5" name="KPI label 1"/>
          <p:cNvSpPr txBox="1"/>
          <p:nvPr/>
        </p:nvSpPr>
        <p:spPr>
          <a:xfrm>
            <a:off x="457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6" name="KPI card 2"/>
          <p:cNvSpPr/>
          <p:nvPr/>
        </p:nvSpPr>
        <p:spPr>
          <a:xfrm>
            <a:off x="256032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7" name="KPI value 2"/>
          <p:cNvSpPr txBox="1"/>
          <p:nvPr/>
        </p:nvSpPr>
        <p:spPr>
          <a:xfrm>
            <a:off x="256032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10,000</a:t>
            </a:r>
            <a:endParaRPr lang="en-US" sz="3000" dirty="0"/>
          </a:p>
        </p:txBody>
      </p:sp>
      <p:sp>
        <p:nvSpPr>
          <p:cNvPr id="8" name="KPI label 2"/>
          <p:cNvSpPr txBox="1"/>
          <p:nvPr/>
        </p:nvSpPr>
        <p:spPr>
          <a:xfrm>
            <a:off x="25603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9" name="KPI card 3"/>
          <p:cNvSpPr/>
          <p:nvPr/>
        </p:nvSpPr>
        <p:spPr>
          <a:xfrm>
            <a:off x="466344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10" name="KPI value 3"/>
          <p:cNvSpPr txBox="1"/>
          <p:nvPr/>
        </p:nvSpPr>
        <p:spPr>
          <a:xfrm>
            <a:off x="466344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6,384</a:t>
            </a:r>
            <a:endParaRPr lang="en-US" sz="3000" dirty="0"/>
          </a:p>
        </p:txBody>
      </p:sp>
      <p:sp>
        <p:nvSpPr>
          <p:cNvPr id="11" name="KPI label 3"/>
          <p:cNvSpPr txBox="1"/>
          <p:nvPr/>
        </p:nvSpPr>
        <p:spPr>
          <a:xfrm>
            <a:off x="46634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12" name="KPI card 4"/>
          <p:cNvSpPr/>
          <p:nvPr/>
        </p:nvSpPr>
        <p:spPr>
          <a:xfrm>
            <a:off x="676656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13" name="KPI value 4"/>
          <p:cNvSpPr txBox="1"/>
          <p:nvPr/>
        </p:nvSpPr>
        <p:spPr>
          <a:xfrm>
            <a:off x="676656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249,320</a:t>
            </a:r>
            <a:endParaRPr lang="en-US" sz="3000" dirty="0"/>
          </a:p>
        </p:txBody>
      </p:sp>
      <p:sp>
        <p:nvSpPr>
          <p:cNvPr id="14" name="KPI label 4"/>
          <p:cNvSpPr txBox="1"/>
          <p:nvPr/>
        </p:nvSpPr>
        <p:spPr>
          <a:xfrm>
            <a:off x="67665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UNITS SOLD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242316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Dashboard notes"/>
          <p:cNvSpPr txBox="1"/>
          <p:nvPr/>
        </p:nvSpPr>
        <p:spPr>
          <a:xfrm>
            <a:off x="6126480" y="2514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How these were built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1B2B34"/>
                </a:solidFill>
              </a:rPr>
              <a:t>All numbers come from Excel formulas (SUMIFS, COUNTIFS) on the cleaned data.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1B2B34"/>
                </a:solidFill>
              </a:rPr>
              <a:t>Revenue excludes 300 orders with missing price and revenue.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AI-Assisted Analysis</a:t>
            </a:r>
            <a:endParaRPr lang="en-US" sz="3000" dirty="0"/>
          </a:p>
        </p:txBody>
      </p:sp>
      <p:sp>
        <p:nvSpPr>
          <p:cNvPr id="3" name="Prompt card"/>
          <p:cNvSpPr/>
          <p:nvPr/>
        </p:nvSpPr>
        <p:spPr>
          <a:xfrm>
            <a:off x="457200" y="118872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0B3C49"/>
          </a:solidFill>
          <a:ln/>
        </p:spPr>
      </p:sp>
      <p:sp>
        <p:nvSpPr>
          <p:cNvPr id="4" name="Prompt label"/>
          <p:cNvSpPr txBox="1"/>
          <p:nvPr/>
        </p:nvSpPr>
        <p:spPr>
          <a:xfrm>
            <a:off x="7315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</a:rPr>
              <a:t>AI PROMPT USED</a:t>
            </a:r>
            <a:endParaRPr lang="en-US" sz="1200" dirty="0"/>
          </a:p>
        </p:txBody>
      </p:sp>
      <p:sp>
        <p:nvSpPr>
          <p:cNvPr id="5" name="Prompt text"/>
          <p:cNvSpPr txBox="1"/>
          <p:nvPr/>
        </p:nvSpPr>
        <p:spPr>
          <a:xfrm>
            <a:off x="73152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"Analyze 10,000 transaction rows. Identify casing anomalies, trailing spaces and payment bottlenecks, then draft executive insights."</a:t>
            </a:r>
            <a:endParaRPr lang="en-US" sz="1600" dirty="0"/>
          </a:p>
        </p:txBody>
      </p:sp>
      <p:sp>
        <p:nvSpPr>
          <p:cNvPr id="6" name="AI dot 1"/>
          <p:cNvSpPr/>
          <p:nvPr/>
        </p:nvSpPr>
        <p:spPr>
          <a:xfrm>
            <a:off x="457200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AI dotText 1"/>
          <p:cNvSpPr txBox="1"/>
          <p:nvPr/>
        </p:nvSpPr>
        <p:spPr>
          <a:xfrm>
            <a:off x="45720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AI head 1"/>
          <p:cNvSpPr txBox="1"/>
          <p:nvPr/>
        </p:nvSpPr>
        <p:spPr>
          <a:xfrm>
            <a:off x="512064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Found issues</a:t>
            </a:r>
            <a:endParaRPr lang="en-US" sz="1600" dirty="0"/>
          </a:p>
        </p:txBody>
      </p:sp>
      <p:sp>
        <p:nvSpPr>
          <p:cNvPr id="9" name="AI body 1"/>
          <p:cNvSpPr txBox="1"/>
          <p:nvPr/>
        </p:nvSpPr>
        <p:spPr>
          <a:xfrm>
            <a:off x="5120640" y="1499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Casing errors, extra spaces, mixed date formats and blanks.</a:t>
            </a:r>
            <a:endParaRPr lang="en-US" sz="1400" dirty="0"/>
          </a:p>
        </p:txBody>
      </p:sp>
      <p:sp>
        <p:nvSpPr>
          <p:cNvPr id="10" name="AI dot 2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AI dotText 2"/>
          <p:cNvSpPr txBox="1"/>
          <p:nvPr/>
        </p:nvSpPr>
        <p:spPr>
          <a:xfrm>
            <a:off x="45720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AI head 2"/>
          <p:cNvSpPr txBox="1"/>
          <p:nvPr/>
        </p:nvSpPr>
        <p:spPr>
          <a:xfrm>
            <a:off x="5120640" y="2057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Standardised entries</a:t>
            </a:r>
            <a:endParaRPr lang="en-US" sz="1600" dirty="0"/>
          </a:p>
        </p:txBody>
      </p:sp>
      <p:sp>
        <p:nvSpPr>
          <p:cNvPr id="13" name="AI body 2"/>
          <p:cNvSpPr txBox="1"/>
          <p:nvPr/>
        </p:nvSpPr>
        <p:spPr>
          <a:xfrm>
            <a:off x="5120640" y="2368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Mapping rules for categories, statuses and customer names.</a:t>
            </a:r>
            <a:endParaRPr lang="en-US" sz="1400" dirty="0"/>
          </a:p>
        </p:txBody>
      </p:sp>
      <p:sp>
        <p:nvSpPr>
          <p:cNvPr id="14" name="AI dot 3"/>
          <p:cNvSpPr/>
          <p:nvPr/>
        </p:nvSpPr>
        <p:spPr>
          <a:xfrm>
            <a:off x="4572000" y="2971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AI dotText 3"/>
          <p:cNvSpPr txBox="1"/>
          <p:nvPr/>
        </p:nvSpPr>
        <p:spPr>
          <a:xfrm>
            <a:off x="45720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AI head 3"/>
          <p:cNvSpPr txBox="1"/>
          <p:nvPr/>
        </p:nvSpPr>
        <p:spPr>
          <a:xfrm>
            <a:off x="5120640" y="2926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Drafted insights</a:t>
            </a:r>
            <a:endParaRPr lang="en-US" sz="1600" dirty="0"/>
          </a:p>
        </p:txBody>
      </p:sp>
      <p:sp>
        <p:nvSpPr>
          <p:cNvPr id="17" name="AI body 3"/>
          <p:cNvSpPr txBox="1"/>
          <p:nvPr/>
        </p:nvSpPr>
        <p:spPr>
          <a:xfrm>
            <a:off x="5120640" y="32369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Category, region and payment patterns for the summary.</a:t>
            </a:r>
            <a:endParaRPr lang="en-US" sz="1400" dirty="0"/>
          </a:p>
        </p:txBody>
      </p:sp>
      <p:sp>
        <p:nvSpPr>
          <p:cNvPr id="18" name="AI dot 4"/>
          <p:cNvSpPr/>
          <p:nvPr/>
        </p:nvSpPr>
        <p:spPr>
          <a:xfrm>
            <a:off x="4572000" y="38404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AI dotText 4"/>
          <p:cNvSpPr txBox="1"/>
          <p:nvPr/>
        </p:nvSpPr>
        <p:spPr>
          <a:xfrm>
            <a:off x="45720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AI head 4"/>
          <p:cNvSpPr txBox="1"/>
          <p:nvPr/>
        </p:nvSpPr>
        <p:spPr>
          <a:xfrm>
            <a:off x="5120640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Human check</a:t>
            </a:r>
            <a:endParaRPr lang="en-US" sz="1600" dirty="0"/>
          </a:p>
        </p:txBody>
      </p:sp>
      <p:sp>
        <p:nvSpPr>
          <p:cNvPr id="21" name="AI body 4"/>
          <p:cNvSpPr txBox="1"/>
          <p:nvPr/>
        </p:nvSpPr>
        <p:spPr>
          <a:xfrm>
            <a:off x="5120640" y="41056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Every AI number was cross-checked against Excel formulas.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Insights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 1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5" name="Insight stat 1"/>
          <p:cNvSpPr txBox="1"/>
          <p:nvPr/>
        </p:nvSpPr>
        <p:spPr>
          <a:xfrm>
            <a:off x="4754880" y="11887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22.9%</a:t>
            </a:r>
            <a:endParaRPr lang="en-US" sz="2200" dirty="0"/>
          </a:p>
        </p:txBody>
      </p:sp>
      <p:sp>
        <p:nvSpPr>
          <p:cNvPr id="6" name="Insight text 1"/>
          <p:cNvSpPr txBox="1"/>
          <p:nvPr/>
        </p:nvSpPr>
        <p:spPr>
          <a:xfrm>
            <a:off x="6126480" y="1188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of orders are Paid. The rest are Pending, Failed or Refunded.</a:t>
            </a:r>
            <a:endParaRPr lang="en-US" sz="1300" dirty="0"/>
          </a:p>
        </p:txBody>
      </p:sp>
      <p:sp>
        <p:nvSpPr>
          <p:cNvPr id="7" name="Insight card 2"/>
          <p:cNvSpPr/>
          <p:nvPr/>
        </p:nvSpPr>
        <p:spPr>
          <a:xfrm>
            <a:off x="4663440" y="20574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8" name="Insight stat 2"/>
          <p:cNvSpPr txBox="1"/>
          <p:nvPr/>
        </p:nvSpPr>
        <p:spPr>
          <a:xfrm>
            <a:off x="4754880" y="205740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31.7%</a:t>
            </a:r>
            <a:endParaRPr lang="en-US" sz="2200" dirty="0"/>
          </a:p>
        </p:txBody>
      </p:sp>
      <p:sp>
        <p:nvSpPr>
          <p:cNvPr id="9" name="Insight text 2"/>
          <p:cNvSpPr txBox="1"/>
          <p:nvPr/>
        </p:nvSpPr>
        <p:spPr>
          <a:xfrm>
            <a:off x="6126480" y="20574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of orders are Pending, worth 18.8M in revenue.</a:t>
            </a:r>
            <a:endParaRPr lang="en-US" sz="1300" dirty="0"/>
          </a:p>
        </p:txBody>
      </p:sp>
      <p:sp>
        <p:nvSpPr>
          <p:cNvPr id="10" name="Insight card 3"/>
          <p:cNvSpPr/>
          <p:nvPr/>
        </p:nvSpPr>
        <p:spPr>
          <a:xfrm>
            <a:off x="4663440" y="29260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11" name="Insight stat 3"/>
          <p:cNvSpPr txBox="1"/>
          <p:nvPr/>
        </p:nvSpPr>
        <p:spPr>
          <a:xfrm>
            <a:off x="4754880" y="29260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Central</a:t>
            </a:r>
            <a:endParaRPr lang="en-US" sz="2200" dirty="0"/>
          </a:p>
        </p:txBody>
      </p:sp>
      <p:sp>
        <p:nvSpPr>
          <p:cNvPr id="12" name="Insight text 3"/>
          <p:cNvSpPr txBox="1"/>
          <p:nvPr/>
        </p:nvSpPr>
        <p:spPr>
          <a:xfrm>
            <a:off x="6126480" y="29260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is the top region (13.0M). East is lowest at 11.5M.</a:t>
            </a:r>
            <a:endParaRPr lang="en-US" sz="1300" dirty="0"/>
          </a:p>
        </p:txBody>
      </p:sp>
      <p:sp>
        <p:nvSpPr>
          <p:cNvPr id="13" name="Insight card 4"/>
          <p:cNvSpPr/>
          <p:nvPr/>
        </p:nvSpPr>
        <p:spPr>
          <a:xfrm>
            <a:off x="4663440" y="379476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14" name="Insight stat 4"/>
          <p:cNvSpPr txBox="1"/>
          <p:nvPr/>
        </p:nvSpPr>
        <p:spPr>
          <a:xfrm>
            <a:off x="4754880" y="379476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~20%</a:t>
            </a:r>
            <a:endParaRPr lang="en-US" sz="2200" dirty="0"/>
          </a:p>
        </p:txBody>
      </p:sp>
      <p:sp>
        <p:nvSpPr>
          <p:cNvPr id="15" name="Insight text 4"/>
          <p:cNvSpPr txBox="1"/>
          <p:nvPr/>
        </p:nvSpPr>
        <p:spPr>
          <a:xfrm>
            <a:off x="6126480" y="3794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each: all five categories are close, Apparel leads at 20.9%.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Rec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4" name="Rec num 1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Rec numText 1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 head 1"/>
          <p:cNvSpPr txBox="1"/>
          <p:nvPr/>
        </p:nvSpPr>
        <p:spPr>
          <a:xfrm>
            <a:off x="1325880" y="1417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Recover pending payments</a:t>
            </a:r>
            <a:endParaRPr lang="en-US" sz="1600" dirty="0"/>
          </a:p>
        </p:txBody>
      </p:sp>
      <p:sp>
        <p:nvSpPr>
          <p:cNvPr id="7" name="Rec body 1"/>
          <p:cNvSpPr txBox="1"/>
          <p:nvPr/>
        </p:nvSpPr>
        <p:spPr>
          <a:xfrm>
            <a:off x="68580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Daily alerts for orders pending over 48 hours. 18.8M is waiting.</a:t>
            </a:r>
            <a:endParaRPr lang="en-US" sz="1400" dirty="0"/>
          </a:p>
        </p:txBody>
      </p:sp>
      <p:sp>
        <p:nvSpPr>
          <p:cNvPr id="8" name="Rec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9" name="Rec num 2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Rec numText 2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Rec head 2"/>
          <p:cNvSpPr txBox="1"/>
          <p:nvPr/>
        </p:nvSpPr>
        <p:spPr>
          <a:xfrm>
            <a:off x="5532120" y="1417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Enforce entry validation</a:t>
            </a:r>
            <a:endParaRPr lang="en-US" sz="1600" dirty="0"/>
          </a:p>
        </p:txBody>
      </p:sp>
      <p:sp>
        <p:nvSpPr>
          <p:cNvPr id="12" name="Rec body 2"/>
          <p:cNvSpPr txBox="1"/>
          <p:nvPr/>
        </p:nvSpPr>
        <p:spPr>
          <a:xfrm>
            <a:off x="489204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Dropdowns and required fields stop blank Region, Sales Rep and Order ID.</a:t>
            </a:r>
            <a:endParaRPr lang="en-US" sz="1400" dirty="0"/>
          </a:p>
        </p:txBody>
      </p:sp>
      <p:sp>
        <p:nvSpPr>
          <p:cNvPr id="13" name="Rec card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14" name="Rec num 3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Rec numText 3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Rec head 3"/>
          <p:cNvSpPr txBox="1"/>
          <p:nvPr/>
        </p:nvSpPr>
        <p:spPr>
          <a:xfrm>
            <a:off x="13258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Capture dates properly</a:t>
            </a:r>
            <a:endParaRPr lang="en-US" sz="1600" dirty="0"/>
          </a:p>
        </p:txBody>
      </p:sp>
      <p:sp>
        <p:nvSpPr>
          <p:cNvPr id="17" name="Rec body 3"/>
          <p:cNvSpPr txBox="1"/>
          <p:nvPr/>
        </p:nvSpPr>
        <p:spPr>
          <a:xfrm>
            <a:off x="685800" y="3794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Use a date picker. Placeholder dates distort the monthly trend.</a:t>
            </a:r>
            <a:endParaRPr lang="en-US" sz="1400" dirty="0"/>
          </a:p>
        </p:txBody>
      </p:sp>
      <p:sp>
        <p:nvSpPr>
          <p:cNvPr id="18" name="Rec card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19" name="Rec num 4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Rec numText 4"/>
          <p:cNvSpPr txBox="1"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Rec head 4"/>
          <p:cNvSpPr txBox="1"/>
          <p:nvPr/>
        </p:nvSpPr>
        <p:spPr>
          <a:xfrm>
            <a:off x="55321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Review the East region</a:t>
            </a:r>
            <a:endParaRPr lang="en-US" sz="1600" dirty="0"/>
          </a:p>
        </p:txBody>
      </p:sp>
      <p:sp>
        <p:nvSpPr>
          <p:cNvPr id="22" name="Rec body 4"/>
          <p:cNvSpPr txBox="1"/>
          <p:nvPr/>
        </p:nvSpPr>
        <p:spPr>
          <a:xfrm>
            <a:off x="4892040" y="3794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Lowest revenue of the named regions. Check pricing and coverage.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Conclusion stat"/>
          <p:cNvSpPr txBox="1"/>
          <p:nvPr/>
        </p:nvSpPr>
        <p:spPr>
          <a:xfrm>
            <a:off x="5486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</a:rPr>
              <a:t>10,200 → 10,000</a:t>
            </a:r>
            <a:endParaRPr lang="en-US" sz="4000" dirty="0"/>
          </a:p>
        </p:txBody>
      </p:sp>
      <p:sp>
        <p:nvSpPr>
          <p:cNvPr id="4" name="Conclusion text"/>
          <p:cNvSpPr txBox="1"/>
          <p:nvPr/>
        </p:nvSpPr>
        <p:spPr>
          <a:xfrm>
            <a:off x="548640" y="2240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rows after removing duplicates. 1,627 rows are flagged for follow-up instead of being guessed.</a:t>
            </a:r>
            <a:endParaRPr lang="en-US" sz="1600" dirty="0"/>
          </a:p>
        </p:txBody>
      </p:sp>
      <p:sp>
        <p:nvSpPr>
          <p:cNvPr id="5" name="Conclusion sub"/>
          <p:cNvSpPr txBox="1"/>
          <p:nvPr/>
        </p:nvSpPr>
        <p:spPr>
          <a:xfrm>
            <a:off x="548640" y="3383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8EA"/>
                </a:solidFill>
              </a:rPr>
              <a:t>A clean dataset, a formula-driven Excel dashboard and an AI-assisted report, built end to end.</a:t>
            </a:r>
            <a:endParaRPr lang="en-US" sz="1400" dirty="0"/>
          </a:p>
        </p:txBody>
      </p:sp>
      <p:sp>
        <p:nvSpPr>
          <p:cNvPr id="6" name="Roadmap card"/>
          <p:cNvSpPr/>
          <p:nvPr/>
        </p:nvSpPr>
        <p:spPr>
          <a:xfrm>
            <a:off x="5029200" y="13716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028090"/>
          </a:solidFill>
          <a:ln/>
        </p:spPr>
      </p:sp>
      <p:sp>
        <p:nvSpPr>
          <p:cNvPr id="7" name="Roadmap label"/>
          <p:cNvSpPr txBox="1"/>
          <p:nvPr/>
        </p:nvSpPr>
        <p:spPr>
          <a:xfrm>
            <a:off x="5303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PHASE 2 ROADMAP</a:t>
            </a:r>
            <a:endParaRPr lang="en-US" sz="1200" dirty="0"/>
          </a:p>
        </p:txBody>
      </p:sp>
      <p:sp>
        <p:nvSpPr>
          <p:cNvPr id="8" name="Roadmap list"/>
          <p:cNvSpPr txBox="1"/>
          <p:nvPr/>
        </p:nvSpPr>
        <p:spPr>
          <a:xfrm>
            <a:off x="5303520" y="20574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One-click Power Query refresh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Excel PivotTables with slicers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Power BI dashboard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S Teal">
  <a:themeElements>
    <a:clrScheme name="MIS Teal">
      <a:dk1>
        <a:srgbClr val="1B2B34"/>
      </a:dk1>
      <a:lt1>
        <a:srgbClr val="FFFFFF"/>
      </a:lt1>
      <a:dk2>
        <a:srgbClr val="0B3C49"/>
      </a:dk2>
      <a:lt2>
        <a:srgbClr val="E8F4F5"/>
      </a:lt2>
      <a:accent1>
        <a:srgbClr val="028090"/>
      </a:accent1>
      <a:accent2>
        <a:srgbClr val="F2A541"/>
      </a:accent2>
      <a:accent3>
        <a:srgbClr val="00A896"/>
      </a:accent3>
      <a:accent4>
        <a:srgbClr val="6C7A89"/>
      </a:accent4>
      <a:accent5>
        <a:srgbClr val="D1495B"/>
      </a:accent5>
      <a:accent6>
        <a:srgbClr val="3D5A80"/>
      </a:accent6>
      <a:hlink>
        <a:srgbClr val="028090"/>
      </a:hlink>
      <a:folHlink>
        <a:srgbClr val="6C7A89"/>
      </a:folHlink>
    </a:clrScheme>
    <a:fontScheme name="MI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Data Management &amp; MIS Reporting System</dc:title>
  <dc:subject>PptxGenJS Presentation</dc:subject>
  <dc:creator>PptxGenJS</dc:creator>
  <cp:lastModifiedBy>PptxGenJS</cp:lastModifiedBy>
  <cp:revision>1</cp:revision>
  <dcterms:created xsi:type="dcterms:W3CDTF">2026-10-07T09:43:46Z</dcterms:created>
  <dcterms:modified xsi:type="dcterms:W3CDTF">2026-10-07T09:43:46Z</dcterms:modified>
</cp:coreProperties>
</file>